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0"/>
  </p:normalViewPr>
  <p:slideViewPr>
    <p:cSldViewPr snapToGrid="0" snapToObjects="1">
      <p:cViewPr varScale="1">
        <p:scale>
          <a:sx n="95" d="100"/>
          <a:sy n="95" d="100"/>
        </p:scale>
        <p:origin x="63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A425AE-D9DB-43AA-8047-886BE4492CA5}" type="datetimeFigureOut">
              <a:rPr lang="bg-BG" smtClean="0"/>
              <a:t>5.5.2026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D62192-624A-401D-B9B6-782FBDFB54E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28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Android</a:t>
            </a:r>
            <a:r>
              <a:rPr lang="en-US" baseline="0" dirty="0" smtClean="0"/>
              <a:t> + Java App -&gt; </a:t>
            </a:r>
            <a:r>
              <a:rPr lang="bg-BG" baseline="0" dirty="0" smtClean="0"/>
              <a:t>служители виждат и резервират бюра, а админи – управляват процеса.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D62192-624A-401D-B9B6-782FBDFB54EF}" type="slidenum">
              <a:rPr lang="bg-BG" smtClean="0"/>
              <a:t>1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315151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Проблем – голям </a:t>
            </a:r>
            <a:r>
              <a:rPr lang="en-US" dirty="0" smtClean="0"/>
              <a:t>open-space</a:t>
            </a:r>
            <a:r>
              <a:rPr lang="en-US" baseline="0" dirty="0" smtClean="0"/>
              <a:t> </a:t>
            </a:r>
            <a:r>
              <a:rPr lang="bg-BG" baseline="0" dirty="0" smtClean="0"/>
              <a:t>офис – никой не знае кое бюро е свободно, кога ще е и кой го е взел. Решение – локализирана система, даваща интерактивност за резервиране по дати.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D62192-624A-401D-B9B6-782FBDFB54EF}" type="slidenum">
              <a:rPr lang="bg-BG" smtClean="0"/>
              <a:t>2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023493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Android</a:t>
            </a:r>
            <a:r>
              <a:rPr lang="en-US" baseline="0" dirty="0" smtClean="0"/>
              <a:t> app </a:t>
            </a:r>
            <a:r>
              <a:rPr lang="bg-BG" baseline="0" dirty="0" smtClean="0"/>
              <a:t>на </a:t>
            </a:r>
            <a:r>
              <a:rPr lang="en-US" baseline="0" dirty="0" smtClean="0"/>
              <a:t>java; </a:t>
            </a:r>
            <a:r>
              <a:rPr lang="bg-BG" baseline="0" dirty="0" smtClean="0"/>
              <a:t>смесена архитектура – </a:t>
            </a:r>
            <a:r>
              <a:rPr lang="en-US" baseline="0" dirty="0" smtClean="0"/>
              <a:t>MVVM/</a:t>
            </a:r>
            <a:r>
              <a:rPr lang="en-US" baseline="0" dirty="0" err="1" smtClean="0"/>
              <a:t>RepositoryPattern</a:t>
            </a:r>
            <a:r>
              <a:rPr lang="en-US" baseline="0" dirty="0" smtClean="0"/>
              <a:t>; </a:t>
            </a:r>
            <a:r>
              <a:rPr lang="bg-BG" baseline="0" dirty="0" smtClean="0"/>
              <a:t>БД - </a:t>
            </a:r>
            <a:r>
              <a:rPr lang="en-US" baseline="0" dirty="0" smtClean="0"/>
              <a:t>Room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D62192-624A-401D-B9B6-782FBDFB54EF}" type="slidenum">
              <a:rPr lang="bg-BG" smtClean="0"/>
              <a:t>3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15983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bg-BG" dirty="0" smtClean="0"/>
              <a:t>4 слоя:</a:t>
            </a:r>
            <a:r>
              <a:rPr lang="bg-BG" baseline="0" dirty="0" smtClean="0"/>
              <a:t> </a:t>
            </a:r>
            <a:r>
              <a:rPr lang="en-US" baseline="0" dirty="0" smtClean="0"/>
              <a:t>Present – Acts, Frags – </a:t>
            </a:r>
            <a:r>
              <a:rPr lang="bg-BG" baseline="0" dirty="0" smtClean="0"/>
              <a:t>наблюдава </a:t>
            </a:r>
            <a:r>
              <a:rPr lang="en-US" baseline="0" dirty="0" err="1" smtClean="0"/>
              <a:t>LiveData</a:t>
            </a:r>
            <a:r>
              <a:rPr lang="en-US" baseline="0" dirty="0" smtClean="0"/>
              <a:t> </a:t>
            </a:r>
            <a:r>
              <a:rPr lang="bg-BG" baseline="0" dirty="0" smtClean="0"/>
              <a:t>и комуникира с </a:t>
            </a:r>
            <a:r>
              <a:rPr lang="en-US" baseline="0" dirty="0" err="1" smtClean="0"/>
              <a:t>ViewModel</a:t>
            </a:r>
            <a:r>
              <a:rPr lang="en-US" baseline="0" dirty="0" smtClean="0"/>
              <a:t>, </a:t>
            </a:r>
            <a:r>
              <a:rPr lang="bg-BG" baseline="0" dirty="0" smtClean="0"/>
              <a:t>никога директно с базата</a:t>
            </a:r>
            <a:r>
              <a:rPr lang="en-US" baseline="0" dirty="0" smtClean="0"/>
              <a:t>; </a:t>
            </a:r>
            <a:r>
              <a:rPr lang="en-US" baseline="0" dirty="0" err="1" smtClean="0"/>
              <a:t>ViewModel</a:t>
            </a:r>
            <a:r>
              <a:rPr lang="en-US" baseline="0" dirty="0" smtClean="0"/>
              <a:t> – </a:t>
            </a:r>
            <a:r>
              <a:rPr lang="bg-BG" baseline="0" dirty="0" smtClean="0"/>
              <a:t>съхранява </a:t>
            </a:r>
            <a:r>
              <a:rPr lang="en-US" baseline="0" dirty="0" smtClean="0"/>
              <a:t>UI </a:t>
            </a:r>
            <a:r>
              <a:rPr lang="bg-BG" baseline="0" dirty="0" smtClean="0"/>
              <a:t>статус и делегира към </a:t>
            </a:r>
            <a:r>
              <a:rPr lang="en-US" baseline="0" dirty="0" smtClean="0"/>
              <a:t>Repository; Repository – </a:t>
            </a:r>
            <a:r>
              <a:rPr lang="bg-BG" baseline="0" dirty="0" smtClean="0"/>
              <a:t>съдържа логика и управление на </a:t>
            </a:r>
            <a:r>
              <a:rPr lang="en-US" baseline="0" dirty="0" smtClean="0"/>
              <a:t>background thread-</a:t>
            </a:r>
            <a:r>
              <a:rPr lang="bg-BG" baseline="0" dirty="0" smtClean="0"/>
              <a:t>ове чрез </a:t>
            </a:r>
            <a:r>
              <a:rPr lang="en-US" baseline="0" dirty="0" err="1" smtClean="0"/>
              <a:t>ExecutorService</a:t>
            </a:r>
            <a:r>
              <a:rPr lang="en-US" baseline="0" dirty="0" smtClean="0"/>
              <a:t>; Data – Room </a:t>
            </a:r>
            <a:r>
              <a:rPr lang="bg-BG" baseline="0" dirty="0" smtClean="0"/>
              <a:t>с 3 таблици; </a:t>
            </a:r>
            <a:r>
              <a:rPr lang="en-US" baseline="0" dirty="0" smtClean="0"/>
              <a:t>UI </a:t>
            </a:r>
            <a:r>
              <a:rPr lang="bg-BG" baseline="0" dirty="0" smtClean="0"/>
              <a:t>никога не достъпва </a:t>
            </a:r>
            <a:r>
              <a:rPr lang="en-US" baseline="0" dirty="0" smtClean="0"/>
              <a:t>DAO </a:t>
            </a:r>
            <a:r>
              <a:rPr lang="bg-BG" baseline="0" dirty="0" smtClean="0"/>
              <a:t>диретно, а през </a:t>
            </a:r>
            <a:r>
              <a:rPr lang="en-US" baseline="0" dirty="0" err="1" smtClean="0"/>
              <a:t>ViewModel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D62192-624A-401D-B9B6-782FBDFB54EF}" type="slidenum">
              <a:rPr lang="bg-BG" smtClean="0"/>
              <a:t>4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51266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ru-RU" sz="1200" b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роли: </a:t>
            </a:r>
            <a:r>
              <a:rPr lang="en-US" sz="1200" b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GUEST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само</a:t>
            </a:r>
            <a:r>
              <a:rPr lang="en-US" sz="1200" b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разглежда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en-US" sz="1200" b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резервира и освобождава своите бюра.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</a:t>
            </a:r>
            <a:r>
              <a:rPr lang="en-US" sz="1200" b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допълнителен панел с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таба: управление на бюра, на резервации и на потребители — включително нулиране на пароли и промяна на роли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D62192-624A-401D-B9B6-782FBDFB54EF}" type="slidenum">
              <a:rPr lang="bg-BG" smtClean="0"/>
              <a:t>5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10589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bg-BG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таблици: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users, desks </a:t>
            </a:r>
            <a:r>
              <a:rPr lang="bg-BG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reservations;</a:t>
            </a:r>
            <a:r>
              <a:rPr lang="en-US" sz="1200" b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enum</a:t>
            </a:r>
            <a:r>
              <a:rPr lang="bg-BG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се пазят като текст чрез </a:t>
            </a:r>
            <a:r>
              <a:rPr lang="en-US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TypeConverters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bg-BG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Каскадно изтриване гарантира</a:t>
            </a:r>
            <a:r>
              <a:rPr lang="en-US" sz="1200" b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</a:t>
            </a:r>
            <a:r>
              <a:rPr lang="bg-BG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при премахване на потребител или бюро — всички свързани резервации се изтриват автоматично.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D62192-624A-401D-B9B6-782FBDFB54EF}" type="slidenum">
              <a:rPr lang="bg-BG" smtClean="0"/>
              <a:t>6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899425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основни функционалности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Резервация</a:t>
            </a:r>
            <a:r>
              <a:rPr lang="en-US" sz="1200" b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проверява дали има припокриване с вече съществуваща резервация и автоматично обновява статуса на бюрото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r>
              <a:rPr lang="en-US" sz="1200" b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Офис карта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рисувана с Canvas API — tap върху бюро отваря диалог за резервация или показва статуса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r>
              <a:rPr lang="en-US" sz="1200" b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Админ панелът</a:t>
            </a:r>
            <a:r>
              <a:rPr lang="en-US" sz="1200" b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позволява пълно управление с потвърдителни диалози навсякъде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r>
              <a:rPr lang="en-US" sz="1200" b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Известията</a:t>
            </a:r>
            <a:r>
              <a:rPr lang="en-US" sz="1200" b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канала с различен приоритет и AlarmManager напомняния</a:t>
            </a: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D62192-624A-401D-B9B6-782FBDFB54EF}" type="slidenum">
              <a:rPr lang="bg-BG" smtClean="0"/>
              <a:t>7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14581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Искам да споделя </a:t>
            </a:r>
            <a:r>
              <a:rPr lang="bg-BG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няколко</a:t>
            </a: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нетривиални решения, до които стигнах по време на разработката.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1 - всеки нов Fragment щеше да получи резултата от предишна операция. Решението е да нулираме operationResult веднага след обработката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2 - Room може да промени обект in-place, така че DiffUtil не вижда разлика. Решението е defensive copy с нов обект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3 - при admin cancel, ако потребителят не е влязъл, room name се записва в DB и известието се изпраща при следващ вход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 – смяна на парола от админ - </a:t>
            </a:r>
            <a:r>
              <a:rPr lang="ru-RU" sz="1200" b="0" i="0" dirty="0" smtClean="0">
                <a:solidFill>
                  <a:srgbClr val="212121"/>
                </a:solidFill>
                <a:latin typeface="+mn-lt"/>
              </a:rPr>
              <a:t>mustChangePassword в DB (не само SharedPrefs) — потребителят не може да го заобиколи с force-stop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– чрез</a:t>
            </a:r>
            <a:r>
              <a:rPr lang="ru-RU" sz="1200" b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dirty="0" smtClean="0">
                <a:solidFill>
                  <a:srgbClr val="212121"/>
                </a:solidFill>
                <a:latin typeface="+mn-lt"/>
              </a:rPr>
              <a:t>removeObserver() преди subscribe към нов LiveData се предотвратява натрупване на слушатели при навигация между етажи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D62192-624A-401D-B9B6-782FBDFB54EF}" type="slidenum">
              <a:rPr lang="bg-BG" smtClean="0"/>
              <a:t>8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58330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известни ограничения: паролите са plain-text (с демонстрационна цел), 12 бюра (демо цел), AlarmManager алармите се изчистват при рестарт на устройството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MVVM стек, роли, Canvas карта, локални известия с три канала, двуезичен интерфейс и нетривиални технически решения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D62192-624A-401D-B9B6-782FBDFB54EF}" type="slidenum">
              <a:rPr lang="bg-BG" smtClean="0"/>
              <a:t>10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10000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1188720"/>
            <a:ext cx="2194560" cy="2194560"/>
          </a:xfrm>
          <a:prstGeom prst="rect">
            <a:avLst/>
          </a:prstGeom>
          <a:solidFill>
            <a:srgbClr val="1565C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0" y="1417320"/>
            <a:ext cx="21945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0" b="0" i="0" dirty="0">
                <a:solidFill>
                  <a:srgbClr val="FFFFFF"/>
                </a:solidFill>
                <a:latin typeface="Calibri"/>
              </a:rPr>
              <a:t>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Office Desk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 i="0">
                <a:solidFill>
                  <a:srgbClr val="BBDEFB"/>
                </a:solidFill>
                <a:latin typeface="Calibri"/>
              </a:rPr>
              <a:t>&amp; Reservation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65942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bg-BG" sz="1400" b="0" i="0" dirty="0" smtClean="0">
                <a:solidFill>
                  <a:srgbClr val="64B5F6"/>
                </a:solidFill>
                <a:latin typeface="Calibri"/>
              </a:rPr>
              <a:t>ПМУ Проект </a:t>
            </a:r>
            <a:r>
              <a:rPr sz="1400" b="0" i="0" dirty="0" smtClean="0">
                <a:solidFill>
                  <a:srgbClr val="64B5F6"/>
                </a:solidFill>
                <a:latin typeface="Calibri"/>
              </a:rPr>
              <a:t>·  </a:t>
            </a:r>
            <a:r>
              <a:rPr sz="1400" b="0" i="0" dirty="0">
                <a:solidFill>
                  <a:srgbClr val="64B5F6"/>
                </a:solidFill>
                <a:latin typeface="Calibri"/>
              </a:rPr>
              <a:t>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A14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6263640"/>
            <a:ext cx="3889526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bg-BG" sz="1300" b="0" i="0" dirty="0" smtClean="0">
                <a:solidFill>
                  <a:srgbClr val="90CAF9"/>
                </a:solidFill>
                <a:latin typeface="Calibri"/>
              </a:rPr>
              <a:t>Кристиан Кирчев</a:t>
            </a:r>
            <a:r>
              <a:rPr sz="1300" b="0" i="0" dirty="0" smtClean="0">
                <a:solidFill>
                  <a:srgbClr val="90CAF9"/>
                </a:solidFill>
                <a:latin typeface="Calibri"/>
              </a:rPr>
              <a:t>  </a:t>
            </a:r>
            <a:r>
              <a:rPr sz="1300" b="0" i="0" dirty="0">
                <a:solidFill>
                  <a:srgbClr val="90CAF9"/>
                </a:solidFill>
                <a:latin typeface="Calibri"/>
              </a:rPr>
              <a:t>·  </a:t>
            </a:r>
            <a:r>
              <a:rPr sz="1300" b="0" i="0" dirty="0" err="1">
                <a:solidFill>
                  <a:srgbClr val="90CAF9"/>
                </a:solidFill>
                <a:latin typeface="Calibri"/>
              </a:rPr>
              <a:t>Технически</a:t>
            </a:r>
            <a:r>
              <a:rPr sz="1300" b="0" i="0" dirty="0">
                <a:solidFill>
                  <a:srgbClr val="90CAF9"/>
                </a:solidFill>
                <a:latin typeface="Calibri"/>
              </a:rPr>
              <a:t> </a:t>
            </a:r>
            <a:r>
              <a:rPr sz="1300" b="0" i="0" dirty="0" err="1" smtClean="0">
                <a:solidFill>
                  <a:srgbClr val="90CAF9"/>
                </a:solidFill>
                <a:latin typeface="Calibri"/>
              </a:rPr>
              <a:t>Университет</a:t>
            </a:r>
            <a:r>
              <a:rPr lang="bg-BG" sz="1300" b="0" i="0" dirty="0" smtClean="0">
                <a:solidFill>
                  <a:srgbClr val="90CAF9"/>
                </a:solidFill>
                <a:latin typeface="Calibri"/>
              </a:rPr>
              <a:t> - София</a:t>
            </a:r>
            <a:endParaRPr sz="1300" b="0" i="0" dirty="0">
              <a:solidFill>
                <a:srgbClr val="90CAF9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Проблем и Цел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BBDEFB"/>
                </a:solidFill>
                <a:latin typeface="Calibri"/>
              </a:rPr>
              <a:t>Защо ни е нужно такова приложение?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557784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53896"/>
            <a:ext cx="5394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Проблемът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01368"/>
            <a:ext cx="5577840" cy="464515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1892808"/>
            <a:ext cx="5358384" cy="4507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 Офисите с open-space имат много бюра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 Служителите не знаят кое бюро е свободно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 Липса на централизирана система за резервации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121"/>
                </a:solidFill>
                <a:latin typeface="Calibri"/>
              </a:rPr>
              <a:t>•  Администраторите нямат видимост върху заетостта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17320"/>
            <a:ext cx="557784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453896"/>
            <a:ext cx="5394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Решението — DeskManager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801368"/>
            <a:ext cx="5577840" cy="464515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892808"/>
            <a:ext cx="535838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212121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212121"/>
                </a:solidFill>
                <a:latin typeface="Calibri"/>
              </a:rPr>
              <a:t>Визуална</a:t>
            </a:r>
            <a:r>
              <a:rPr sz="16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Calibri"/>
              </a:rPr>
              <a:t>карта</a:t>
            </a:r>
            <a:r>
              <a:rPr sz="16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Calibri"/>
              </a:rPr>
              <a:t>на</a:t>
            </a:r>
            <a:r>
              <a:rPr sz="16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Calibri"/>
              </a:rPr>
              <a:t>офиса</a:t>
            </a:r>
            <a:r>
              <a:rPr sz="1600" b="0" dirty="0">
                <a:solidFill>
                  <a:srgbClr val="212121"/>
                </a:solidFill>
                <a:latin typeface="Calibri"/>
              </a:rPr>
              <a:t> (</a:t>
            </a:r>
            <a:r>
              <a:rPr sz="1600" b="0" dirty="0" err="1">
                <a:solidFill>
                  <a:srgbClr val="212121"/>
                </a:solidFill>
                <a:latin typeface="Calibri"/>
              </a:rPr>
              <a:t>етаж</a:t>
            </a:r>
            <a:r>
              <a:rPr sz="16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Calibri"/>
              </a:rPr>
              <a:t>по</a:t>
            </a:r>
            <a:r>
              <a:rPr sz="16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Calibri"/>
              </a:rPr>
              <a:t>етаж</a:t>
            </a:r>
            <a:r>
              <a:rPr sz="1600" b="0" dirty="0">
                <a:solidFill>
                  <a:srgbClr val="212121"/>
                </a:solidFill>
                <a:latin typeface="Calibri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212121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212121"/>
                </a:solidFill>
                <a:latin typeface="Calibri"/>
              </a:rPr>
              <a:t>Резервации</a:t>
            </a:r>
            <a:r>
              <a:rPr sz="1600" b="0" dirty="0">
                <a:solidFill>
                  <a:srgbClr val="212121"/>
                </a:solidFill>
                <a:latin typeface="Calibri"/>
              </a:rPr>
              <a:t> с </a:t>
            </a:r>
            <a:r>
              <a:rPr sz="1600" b="0" dirty="0" err="1">
                <a:solidFill>
                  <a:srgbClr val="212121"/>
                </a:solidFill>
                <a:latin typeface="Calibri"/>
              </a:rPr>
              <a:t>начална</a:t>
            </a:r>
            <a:r>
              <a:rPr sz="1600" b="0" dirty="0">
                <a:solidFill>
                  <a:srgbClr val="212121"/>
                </a:solidFill>
                <a:latin typeface="Calibri"/>
              </a:rPr>
              <a:t> и </a:t>
            </a:r>
            <a:r>
              <a:rPr sz="1600" b="0" dirty="0" err="1">
                <a:solidFill>
                  <a:srgbClr val="212121"/>
                </a:solidFill>
                <a:latin typeface="Calibri"/>
              </a:rPr>
              <a:t>крайна</a:t>
            </a:r>
            <a:r>
              <a:rPr sz="16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Calibri"/>
              </a:rPr>
              <a:t>дата</a:t>
            </a:r>
            <a:endParaRPr sz="1600" b="0" dirty="0">
              <a:solidFill>
                <a:srgbClr val="212121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212121"/>
                </a:solidFill>
                <a:latin typeface="Calibri"/>
              </a:rPr>
              <a:t>•  3 </a:t>
            </a:r>
            <a:r>
              <a:rPr sz="1600" b="0" dirty="0" err="1">
                <a:solidFill>
                  <a:srgbClr val="212121"/>
                </a:solidFill>
                <a:latin typeface="Calibri"/>
              </a:rPr>
              <a:t>роли</a:t>
            </a:r>
            <a:r>
              <a:rPr sz="1600" b="0" dirty="0">
                <a:solidFill>
                  <a:srgbClr val="212121"/>
                </a:solidFill>
                <a:latin typeface="Calibri"/>
              </a:rPr>
              <a:t>: Admin / User / Guest</a:t>
            </a:r>
          </a:p>
          <a:p>
            <a:pPr algn="l">
              <a:spcAft>
                <a:spcPts val="400"/>
              </a:spcAft>
            </a:pPr>
            <a:r>
              <a:rPr sz="1600" b="0" dirty="0">
                <a:solidFill>
                  <a:srgbClr val="212121"/>
                </a:solidFill>
                <a:latin typeface="Calibri"/>
              </a:rPr>
              <a:t>•  </a:t>
            </a:r>
            <a:r>
              <a:rPr sz="1600" b="0" dirty="0" err="1">
                <a:solidFill>
                  <a:srgbClr val="212121"/>
                </a:solidFill>
                <a:latin typeface="Calibri"/>
              </a:rPr>
              <a:t>Известия</a:t>
            </a:r>
            <a:r>
              <a:rPr sz="16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Calibri"/>
              </a:rPr>
              <a:t>за</a:t>
            </a:r>
            <a:r>
              <a:rPr sz="16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212121"/>
                </a:solidFill>
                <a:latin typeface="Calibri"/>
              </a:rPr>
              <a:t>потвърждение</a:t>
            </a:r>
            <a:r>
              <a:rPr sz="1600" b="0" dirty="0">
                <a:solidFill>
                  <a:srgbClr val="212121"/>
                </a:solidFill>
                <a:latin typeface="Calibri"/>
              </a:rPr>
              <a:t> и </a:t>
            </a:r>
            <a:r>
              <a:rPr sz="1600" b="0" dirty="0" err="1" smtClean="0">
                <a:solidFill>
                  <a:srgbClr val="212121"/>
                </a:solidFill>
                <a:latin typeface="Calibri"/>
              </a:rPr>
              <a:t>напомняния</a:t>
            </a:r>
            <a:endParaRPr sz="1600" b="0" dirty="0">
              <a:solidFill>
                <a:srgbClr val="212121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Технологичен Стек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BBDEFB"/>
                </a:solidFill>
                <a:latin typeface="Calibri"/>
              </a:rPr>
              <a:t>Библиотеки и инструменти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338560" cy="42621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27048"/>
            <a:ext cx="26517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Платформа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527048"/>
            <a:ext cx="8503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Calibri"/>
              </a:rPr>
              <a:t>Android  ·  minSdk 24 (Android 7.0+)  ·  targetSdk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01952"/>
            <a:ext cx="113385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26517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Език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65960"/>
            <a:ext cx="8503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Calibri"/>
              </a:rPr>
              <a:t>Java 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40864"/>
            <a:ext cx="11338560" cy="42621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404872"/>
            <a:ext cx="26517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Архитектура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404872"/>
            <a:ext cx="8503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Calibri"/>
              </a:rPr>
              <a:t>MVVM  ·  Repository Pattern  ·  LiveData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779776"/>
            <a:ext cx="113385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843784"/>
            <a:ext cx="26517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База данни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843784"/>
            <a:ext cx="182652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 dirty="0" smtClean="0">
                <a:solidFill>
                  <a:srgbClr val="212121"/>
                </a:solidFill>
                <a:latin typeface="Calibri"/>
              </a:rPr>
              <a:t>Room  </a:t>
            </a:r>
            <a:r>
              <a:rPr sz="1500" b="0" i="0" dirty="0">
                <a:solidFill>
                  <a:srgbClr val="212121"/>
                </a:solidFill>
                <a:latin typeface="Calibri"/>
              </a:rPr>
              <a:t>(SQLite ORM)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18688"/>
            <a:ext cx="11338560" cy="42621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3282696"/>
            <a:ext cx="26517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Навигация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3282696"/>
            <a:ext cx="2646687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 dirty="0">
                <a:solidFill>
                  <a:srgbClr val="212121"/>
                </a:solidFill>
                <a:latin typeface="Calibri"/>
              </a:rPr>
              <a:t>Jetpack Navigation </a:t>
            </a:r>
            <a:r>
              <a:rPr sz="1500" b="0" i="0" dirty="0" smtClean="0">
                <a:solidFill>
                  <a:srgbClr val="212121"/>
                </a:solidFill>
                <a:latin typeface="Calibri"/>
              </a:rPr>
              <a:t>Component</a:t>
            </a:r>
            <a:endParaRPr sz="1500" b="0" i="0" dirty="0">
              <a:solidFill>
                <a:srgbClr val="212121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3657600"/>
            <a:ext cx="113385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3721608"/>
            <a:ext cx="26517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721608"/>
            <a:ext cx="191905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 dirty="0" err="1">
                <a:solidFill>
                  <a:srgbClr val="212121"/>
                </a:solidFill>
                <a:latin typeface="Calibri"/>
              </a:rPr>
              <a:t>AndroidX</a:t>
            </a:r>
            <a:r>
              <a:rPr sz="15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500" b="0" i="0" dirty="0" err="1" smtClean="0">
                <a:solidFill>
                  <a:srgbClr val="212121"/>
                </a:solidFill>
                <a:latin typeface="Calibri"/>
              </a:rPr>
              <a:t>AppCompat</a:t>
            </a:r>
            <a:endParaRPr sz="1500" b="0" i="0" dirty="0">
              <a:solidFill>
                <a:srgbClr val="212121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457200" y="4096512"/>
            <a:ext cx="11338560" cy="42621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4160520"/>
            <a:ext cx="26517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ViewBinding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160520"/>
            <a:ext cx="8503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Calibri"/>
              </a:rPr>
              <a:t>Включен в app/build.gradle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35424"/>
            <a:ext cx="113385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4599432"/>
            <a:ext cx="26517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Lifecycle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1840" y="4599432"/>
            <a:ext cx="197304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 dirty="0" err="1">
                <a:solidFill>
                  <a:srgbClr val="212121"/>
                </a:solidFill>
                <a:latin typeface="Calibri"/>
              </a:rPr>
              <a:t>ViewModel</a:t>
            </a:r>
            <a:r>
              <a:rPr sz="1500" b="0" i="0" dirty="0">
                <a:solidFill>
                  <a:srgbClr val="212121"/>
                </a:solidFill>
                <a:latin typeface="Calibri"/>
              </a:rPr>
              <a:t> + </a:t>
            </a:r>
            <a:r>
              <a:rPr sz="1500" b="0" i="0" dirty="0" err="1" smtClean="0">
                <a:solidFill>
                  <a:srgbClr val="212121"/>
                </a:solidFill>
                <a:latin typeface="Calibri"/>
              </a:rPr>
              <a:t>LiveData</a:t>
            </a:r>
            <a:endParaRPr sz="1500" b="0" i="0" dirty="0">
              <a:solidFill>
                <a:srgbClr val="212121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200" y="4974336"/>
            <a:ext cx="11338560" cy="42621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5038344"/>
            <a:ext cx="26517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Известия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5038344"/>
            <a:ext cx="85039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212121"/>
                </a:solidFill>
                <a:latin typeface="Calibri"/>
              </a:rPr>
              <a:t>NotificationCompat  ·  AlarmManager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413248"/>
            <a:ext cx="113385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48640" y="5477256"/>
            <a:ext cx="26517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1A237E"/>
                </a:solidFill>
                <a:latin typeface="Calibri"/>
              </a:rPr>
              <a:t>Build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5477256"/>
            <a:ext cx="703269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 dirty="0" err="1" smtClean="0">
                <a:solidFill>
                  <a:srgbClr val="212121"/>
                </a:solidFill>
                <a:latin typeface="Calibri"/>
              </a:rPr>
              <a:t>Gradle</a:t>
            </a:r>
            <a:endParaRPr sz="1500" b="0" i="0" dirty="0">
              <a:solidFill>
                <a:srgbClr val="212121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BBDEFB"/>
                </a:solidFill>
                <a:latin typeface="Calibri"/>
              </a:rPr>
              <a:t>MVVM + Repository — 4 слоя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417320"/>
            <a:ext cx="10424160" cy="10058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508760"/>
            <a:ext cx="1920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490472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Activities · Fragments · Adapters · Custom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189280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Calibri"/>
              </a:rPr>
              <a:t>Наблюдава LiveData, извиква ViewModel методи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435860"/>
            <a:ext cx="365760" cy="104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1565C0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514600"/>
            <a:ext cx="10424160" cy="10058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8408" y="2606040"/>
            <a:ext cx="1920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VIEWMODEL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587752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UserViewModel · DeskViewModel · ReservationViewModel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99008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Calibri"/>
              </a:rPr>
              <a:t>Съхранява UI-статус като LiveData, делегира към Repository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3533140"/>
            <a:ext cx="365760" cy="104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1565C0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611880"/>
            <a:ext cx="10424160" cy="10058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8408" y="3703320"/>
            <a:ext cx="1920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REPOSITORY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685032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UserRepository · DeskRepository · ReservationRepository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08736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Calibri"/>
              </a:rPr>
              <a:t>Бизнес логика, управление на нишки чрез Executor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4630420"/>
            <a:ext cx="365760" cy="1041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1565C0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solidFill>
            <a:srgbClr val="03A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" y="4800600"/>
            <a:ext cx="1920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782312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Room DAOs + Entities + AppDatabase + TypeConverters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518464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BBDEFB"/>
                </a:solidFill>
                <a:latin typeface="Calibri"/>
              </a:rPr>
              <a:t>SQLite чрез Room  ·  файл: desk_manager.db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 dirty="0">
                <a:solidFill>
                  <a:srgbClr val="757575"/>
                </a:solidFill>
                <a:latin typeface="Calibri"/>
              </a:rPr>
              <a:t>UI </a:t>
            </a:r>
            <a:r>
              <a:rPr sz="1100" b="0" i="1" dirty="0" err="1">
                <a:solidFill>
                  <a:srgbClr val="757575"/>
                </a:solidFill>
                <a:latin typeface="Calibri"/>
              </a:rPr>
              <a:t>никога</a:t>
            </a:r>
            <a:r>
              <a:rPr sz="1100" b="0" i="1" dirty="0">
                <a:solidFill>
                  <a:srgbClr val="757575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757575"/>
                </a:solidFill>
                <a:latin typeface="Calibri"/>
              </a:rPr>
              <a:t>не</a:t>
            </a:r>
            <a:r>
              <a:rPr sz="1100" b="0" i="1" dirty="0">
                <a:solidFill>
                  <a:srgbClr val="757575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757575"/>
                </a:solidFill>
                <a:latin typeface="Calibri"/>
              </a:rPr>
              <a:t>достъпва</a:t>
            </a:r>
            <a:r>
              <a:rPr sz="1100" b="0" i="1" dirty="0">
                <a:solidFill>
                  <a:srgbClr val="757575"/>
                </a:solidFill>
                <a:latin typeface="Calibri"/>
              </a:rPr>
              <a:t> DAO </a:t>
            </a:r>
            <a:r>
              <a:rPr sz="1100" b="0" i="1" dirty="0" err="1">
                <a:solidFill>
                  <a:srgbClr val="757575"/>
                </a:solidFill>
                <a:latin typeface="Calibri"/>
              </a:rPr>
              <a:t>директно</a:t>
            </a:r>
            <a:r>
              <a:rPr sz="1100" b="0" i="1" dirty="0">
                <a:solidFill>
                  <a:srgbClr val="757575"/>
                </a:solidFill>
                <a:latin typeface="Calibri"/>
              </a:rPr>
              <a:t>  ·  </a:t>
            </a:r>
            <a:r>
              <a:rPr sz="1100" b="0" i="1" dirty="0" err="1">
                <a:solidFill>
                  <a:srgbClr val="757575"/>
                </a:solidFill>
                <a:latin typeface="Calibri"/>
              </a:rPr>
              <a:t>всички</a:t>
            </a:r>
            <a:r>
              <a:rPr sz="1100" b="0" i="1" dirty="0">
                <a:solidFill>
                  <a:srgbClr val="757575"/>
                </a:solidFill>
                <a:latin typeface="Calibri"/>
              </a:rPr>
              <a:t> DB </a:t>
            </a:r>
            <a:r>
              <a:rPr sz="1100" b="0" i="1" dirty="0" err="1">
                <a:solidFill>
                  <a:srgbClr val="757575"/>
                </a:solidFill>
                <a:latin typeface="Calibri"/>
              </a:rPr>
              <a:t>операции</a:t>
            </a:r>
            <a:r>
              <a:rPr sz="1100" b="0" i="1" dirty="0">
                <a:solidFill>
                  <a:srgbClr val="757575"/>
                </a:solidFill>
                <a:latin typeface="Calibri"/>
              </a:rPr>
              <a:t> </a:t>
            </a:r>
            <a:r>
              <a:rPr sz="1100" b="0" i="1" dirty="0" err="1">
                <a:solidFill>
                  <a:srgbClr val="757575"/>
                </a:solidFill>
                <a:latin typeface="Calibri"/>
              </a:rPr>
              <a:t>вървят</a:t>
            </a:r>
            <a:r>
              <a:rPr sz="1100" b="0" i="1" dirty="0">
                <a:solidFill>
                  <a:srgbClr val="757575"/>
                </a:solidFill>
                <a:latin typeface="Calibri"/>
              </a:rPr>
              <a:t> в background thread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Роли и Права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BBDEFB"/>
                </a:solidFill>
                <a:latin typeface="Calibri"/>
              </a:rPr>
              <a:t>Role-Based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749039" cy="475488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3566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GUEST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92808"/>
            <a:ext cx="3749039" cy="459943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2011680"/>
            <a:ext cx="356615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▸  Преглед на списъка с бюра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▸  Преглед на офис картата (само четене)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▸  Няма право да резервира или отменя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1" y="1417320"/>
            <a:ext cx="3749039" cy="47548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70831" y="1481328"/>
            <a:ext cx="3566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USER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1" y="1892808"/>
            <a:ext cx="3749039" cy="459943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89119" y="2011680"/>
            <a:ext cx="356615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▸  Всичко от GUEST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▸  Резервиране на свободно бюро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▸  Освобождаване на собствена резервация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▸  История на резервациите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2" y="1417320"/>
            <a:ext cx="3749039" cy="47548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2" y="1481328"/>
            <a:ext cx="3566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2" y="1892808"/>
            <a:ext cx="3749039" cy="459943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0" y="2011680"/>
            <a:ext cx="356615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▸  Всичко от USER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▸  Добавяне / редактиране / изтриване на бюра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▸  Принудително отменяне на всяка резервация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▸  Управление на потребители (роля, парола, изтриване)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12121"/>
                </a:solidFill>
                <a:latin typeface="Calibri"/>
              </a:rPr>
              <a:t>▸  Администраторски панел (3 таба)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Calibri"/>
              </a:rPr>
              <a:t>Проверка в AdminPanelActivity.onCreate()  ·  неоторизиран достъп завършва с finish()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База Данни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BBDEFB"/>
                </a:solidFill>
                <a:latin typeface="Calibri"/>
              </a:rPr>
              <a:t>Room (SQLite)  ·  3 таблици  ·  Версия 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566160" cy="43891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17904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01952"/>
            <a:ext cx="3566160" cy="4544568"/>
          </a:xfrm>
          <a:prstGeom prst="rect">
            <a:avLst/>
          </a:prstGeom>
          <a:solidFill>
            <a:srgbClr val="F5F8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  id  PK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32888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 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99816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  username  UNIQUE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66744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  password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33672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  role  (TEXT enum)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  must_change_password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67528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  pending_cancel_notif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463040"/>
            <a:ext cx="3566160" cy="43891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06240" y="1517904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desks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1901952"/>
            <a:ext cx="3566160" cy="4544568"/>
          </a:xfrm>
          <a:prstGeom prst="rect">
            <a:avLst/>
          </a:prstGeom>
          <a:solidFill>
            <a:srgbClr val="F5F8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0" y="196596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  id  PK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532888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  room_number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099816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  floor  ← индекс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666744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  is_occupied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233672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  status  (TEXT enum)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1463040"/>
            <a:ext cx="3566160" cy="438912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0" y="1517904"/>
            <a:ext cx="33832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reservations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1901952"/>
            <a:ext cx="3566160" cy="4544568"/>
          </a:xfrm>
          <a:prstGeom prst="rect">
            <a:avLst/>
          </a:prstGeom>
          <a:solidFill>
            <a:srgbClr val="F5F8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0" y="196596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  id  PK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2532888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  user_id  FK → users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3099816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565C0"/>
                </a:solidFill>
                <a:latin typeface="Calibri"/>
              </a:rPr>
              <a:t>  desk_id  FK → desks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3666744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  start_date  (epoch ms)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0" y="4233672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  end_date  (epoch ms)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0" y="4800600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alibri"/>
              </a:rPr>
              <a:t>  status  (TEXT enum)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80" y="5367528"/>
            <a:ext cx="3383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i="0">
                <a:solidFill>
                  <a:srgbClr val="1565C0"/>
                </a:solidFill>
                <a:latin typeface="Calibri"/>
              </a:rPr>
              <a:t>  INDEX (desk_id, user_id, status)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2560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 dirty="0">
                <a:solidFill>
                  <a:srgbClr val="757575"/>
                </a:solidFill>
                <a:latin typeface="Calibri"/>
              </a:rPr>
              <a:t>1 : 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25603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 i="0">
                <a:solidFill>
                  <a:srgbClr val="757575"/>
                </a:solidFill>
                <a:latin typeface="Calibri"/>
              </a:rPr>
              <a:t>1 : 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9224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Calibri"/>
              </a:rPr>
              <a:t>CASCADE DELETE  ·  TypeConverters: enum ↔ String  ·  fallbackToDestructiveMigration() като предпазна мрежа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Ключови Функции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BBDEFB"/>
                </a:solidFill>
                <a:latin typeface="Calibri"/>
              </a:rPr>
              <a:t>Основни flows в приложението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57784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99616"/>
            <a:ext cx="5394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Резервация на бюро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47088"/>
            <a:ext cx="5577840" cy="199339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938528"/>
            <a:ext cx="535838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212121"/>
                </a:solidFill>
                <a:latin typeface="Calibri"/>
              </a:rPr>
              <a:t>• 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Избор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на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начална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 и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крайна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дата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чрез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DatePicker</a:t>
            </a:r>
            <a:endParaRPr sz="1400" b="0" dirty="0">
              <a:solidFill>
                <a:srgbClr val="212121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212121"/>
                </a:solidFill>
                <a:latin typeface="Calibri"/>
              </a:rPr>
              <a:t>• 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Проверка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за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припокриване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 (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countOverlapping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212121"/>
                </a:solidFill>
                <a:latin typeface="Calibri"/>
              </a:rPr>
              <a:t>• 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Автоматично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обновяване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на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статуса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: AVAILABLE → OCCUPIED</a:t>
            </a:r>
          </a:p>
          <a:p>
            <a:pPr algn="l">
              <a:spcAft>
                <a:spcPts val="400"/>
              </a:spcAft>
            </a:pPr>
            <a:r>
              <a:rPr sz="1400" b="0" dirty="0">
                <a:solidFill>
                  <a:srgbClr val="212121"/>
                </a:solidFill>
                <a:latin typeface="Calibri"/>
              </a:rPr>
              <a:t>•  Push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известие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 +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AlarmManager</a:t>
            </a:r>
            <a:r>
              <a:rPr sz="14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212121"/>
                </a:solidFill>
                <a:latin typeface="Calibri"/>
              </a:rPr>
              <a:t>напомняне</a:t>
            </a:r>
            <a:endParaRPr sz="1400" b="0" dirty="0">
              <a:solidFill>
                <a:srgbClr val="212121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557784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499616"/>
            <a:ext cx="5394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Офис карта (Canvas)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847088"/>
            <a:ext cx="5577840" cy="199339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73368" y="1938528"/>
            <a:ext cx="535838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Canvas View — 3 колони × 4 реда на етаж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Зелен / червен кръг за статус на всяко бюро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Tap → резервационен диалог или съобщение за статус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LiveData актуализира картата при всяка промяна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69080"/>
            <a:ext cx="557784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4105656"/>
            <a:ext cx="5394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Администраторски панел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453128"/>
            <a:ext cx="5577840" cy="199339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" y="4544568"/>
            <a:ext cx="535838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Таб 1: добавяне / редактиране / изтриване на бюра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Таб 2: принудително отменяне на всяка резервация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Таб 3: промяна на роля, нулиране на парола, изтриване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069080"/>
            <a:ext cx="5577840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4105656"/>
            <a:ext cx="5394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Система за известия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453128"/>
            <a:ext cx="5577840" cy="1993392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73368" y="4544568"/>
            <a:ext cx="5358384" cy="1856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3 канала: Резервации / Admin Alerts / Напомняния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Отложени известия при admin cancel (pending_cancel_notif)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AlarmManager — работи дори при Doze mode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121"/>
                </a:solidFill>
                <a:latin typeface="Calibri"/>
              </a:rPr>
              <a:t>•  Известие при вход: брой активни резервации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Интересни Дизайн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BBDEFB"/>
                </a:solidFill>
                <a:latin typeface="Calibri"/>
              </a:rPr>
              <a:t>Нетривиални технически решения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1430000" cy="72440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402336" cy="7244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572768"/>
            <a:ext cx="402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490472"/>
            <a:ext cx="10789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  <a:latin typeface="Calibri"/>
              </a:rPr>
              <a:t>Stale LiveData → Null-after-consume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01368"/>
            <a:ext cx="10789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clearOperationResult() веднага след обработка предотвратява повторна доставка при нов observer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67128"/>
            <a:ext cx="11430000" cy="724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2167128"/>
            <a:ext cx="402336" cy="7244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322576"/>
            <a:ext cx="402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240280"/>
            <a:ext cx="10789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  <a:latin typeface="Calibri"/>
              </a:rPr>
              <a:t>DiffUtil False-Negative → Defensive Copy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551176"/>
            <a:ext cx="10789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Calibri"/>
              </a:rPr>
              <a:t>Нов обект с новия статус гарантира, че DiffUtil открива промяната и преизгражда реда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16936"/>
            <a:ext cx="11430000" cy="72440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5760" y="2916936"/>
            <a:ext cx="402336" cy="7244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3072384"/>
            <a:ext cx="402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990088"/>
            <a:ext cx="10789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  <a:latin typeface="Calibri"/>
              </a:rPr>
              <a:t>Delayed Notifications → pending_cancel_notif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300984"/>
            <a:ext cx="684546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bg-BG" sz="1200" dirty="0">
                <a:solidFill>
                  <a:srgbClr val="212121"/>
                </a:solidFill>
                <a:latin typeface="Calibri"/>
              </a:rPr>
              <a:t>А</a:t>
            </a:r>
            <a:r>
              <a:rPr sz="1200" b="0" i="0" dirty="0" err="1" smtClean="0">
                <a:solidFill>
                  <a:srgbClr val="212121"/>
                </a:solidFill>
                <a:latin typeface="Calibri"/>
              </a:rPr>
              <a:t>ко</a:t>
            </a:r>
            <a:r>
              <a:rPr sz="1200" b="0" i="0" dirty="0" smtClean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потребителят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не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е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логнат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, room name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се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записва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в DB и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известието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се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изпраща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при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следващ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вход</a:t>
            </a:r>
            <a:endParaRPr sz="1200" b="0" i="0" dirty="0">
              <a:solidFill>
                <a:srgbClr val="212121"/>
              </a:solidFill>
              <a:latin typeface="Calibr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65760" y="3666744"/>
            <a:ext cx="11430000" cy="724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666744"/>
            <a:ext cx="402336" cy="7244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5760" y="3822192"/>
            <a:ext cx="402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739896"/>
            <a:ext cx="10789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  <a:latin typeface="Calibri"/>
              </a:rPr>
              <a:t>Forced Password Change → DB flag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050792"/>
            <a:ext cx="10789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 dirty="0" err="1">
                <a:solidFill>
                  <a:srgbClr val="212121"/>
                </a:solidFill>
                <a:latin typeface="Calibri"/>
              </a:rPr>
              <a:t>mustChangePassword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в DB (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не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само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SharedPrefs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) —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потребителят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не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може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да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го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заобиколи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с force-stop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416552"/>
            <a:ext cx="11430000" cy="724408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4416552"/>
            <a:ext cx="402336" cy="7244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4572000"/>
            <a:ext cx="402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489704"/>
            <a:ext cx="10789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A237E"/>
                </a:solidFill>
                <a:latin typeface="Calibri"/>
              </a:rPr>
              <a:t>Multiple LiveData observers → Stable Observer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800600"/>
            <a:ext cx="107899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 i="0" dirty="0" err="1">
                <a:solidFill>
                  <a:srgbClr val="212121"/>
                </a:solidFill>
                <a:latin typeface="Calibri"/>
              </a:rPr>
              <a:t>removeObserver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()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преди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subscribe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към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нов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LiveData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предотвратява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натрупване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на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слушатели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при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навигация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между</a:t>
            </a:r>
            <a:r>
              <a:rPr sz="1200" b="0" i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212121"/>
                </a:solidFill>
                <a:latin typeface="Calibri"/>
              </a:rPr>
              <a:t>етажи</a:t>
            </a:r>
            <a:endParaRPr sz="1200" b="0" i="0" dirty="0">
              <a:solidFill>
                <a:srgbClr val="212121"/>
              </a:solidFill>
              <a:latin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65760" y="5321808"/>
            <a:ext cx="402336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11780"/>
            <a:ext cx="12188952" cy="12344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68055" y="3152001"/>
            <a:ext cx="26528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i="0" dirty="0" err="1">
                <a:solidFill>
                  <a:srgbClr val="FFFFFF"/>
                </a:solidFill>
                <a:latin typeface="Calibri"/>
              </a:rPr>
              <a:t>Демонстрация</a:t>
            </a:r>
            <a:endParaRPr sz="3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13385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Ограничения и Заключение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22960"/>
            <a:ext cx="11338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0" i="0">
                <a:solidFill>
                  <a:srgbClr val="BBDEFB"/>
                </a:solidFill>
                <a:latin typeface="Calibri"/>
              </a:rPr>
              <a:t>Known limitations &amp; финален преглед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88952" cy="381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03520" cy="38404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508760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Известни ограничения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47088"/>
            <a:ext cx="5303520" cy="4645152"/>
          </a:xfrm>
          <a:prstGeom prst="rect">
            <a:avLst/>
          </a:prstGeom>
          <a:solidFill>
            <a:srgbClr val="FFF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488" y="1965960"/>
            <a:ext cx="5084064" cy="887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212121"/>
                </a:solidFill>
                <a:latin typeface="Calibri"/>
              </a:rPr>
              <a:t>⚠ 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Паролите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са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plain-text (demo)</a:t>
            </a:r>
          </a:p>
          <a:p>
            <a:pPr algn="l">
              <a:spcAft>
                <a:spcPts val="400"/>
              </a:spcAft>
            </a:pPr>
            <a:r>
              <a:rPr sz="1500" b="0" dirty="0" smtClean="0">
                <a:solidFill>
                  <a:srgbClr val="212121"/>
                </a:solidFill>
                <a:latin typeface="Calibri"/>
              </a:rPr>
              <a:t>⚠  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Max 12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бюра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на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етаж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в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картата</a:t>
            </a:r>
            <a:endParaRPr sz="1500" b="0" dirty="0">
              <a:solidFill>
                <a:srgbClr val="212121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212121"/>
                </a:solidFill>
                <a:latin typeface="Calibri"/>
              </a:rPr>
              <a:t>⚠ 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AlarmManager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изчиства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при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500" b="0" dirty="0" err="1" smtClean="0">
                <a:solidFill>
                  <a:srgbClr val="212121"/>
                </a:solidFill>
                <a:latin typeface="Calibri"/>
              </a:rPr>
              <a:t>рестарт</a:t>
            </a:r>
            <a:endParaRPr sz="1500" b="0" dirty="0">
              <a:solidFill>
                <a:srgbClr val="212121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557784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508760"/>
            <a:ext cx="5394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Постигнато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847088"/>
            <a:ext cx="5577840" cy="4645152"/>
          </a:xfrm>
          <a:prstGeom prst="rect">
            <a:avLst/>
          </a:prstGeom>
          <a:solidFill>
            <a:srgbClr val="F1F8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27648" y="1965960"/>
            <a:ext cx="5358384" cy="196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212121"/>
                </a:solidFill>
                <a:latin typeface="Calibri"/>
              </a:rPr>
              <a:t>✓ 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Пълен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MVVM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стек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с Room +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LiveData</a:t>
            </a:r>
            <a:endParaRPr sz="1500" b="0" dirty="0">
              <a:solidFill>
                <a:srgbClr val="212121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212121"/>
                </a:solidFill>
                <a:latin typeface="Calibri"/>
              </a:rPr>
              <a:t>✓  3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потребителски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500" b="0" dirty="0" err="1" smtClean="0">
                <a:solidFill>
                  <a:srgbClr val="212121"/>
                </a:solidFill>
                <a:latin typeface="Calibri"/>
              </a:rPr>
              <a:t>роли</a:t>
            </a:r>
            <a:endParaRPr sz="1500" b="0" dirty="0">
              <a:solidFill>
                <a:srgbClr val="212121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212121"/>
                </a:solidFill>
                <a:latin typeface="Calibri"/>
              </a:rPr>
              <a:t>✓  Canvas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офис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карта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с touch handling</a:t>
            </a:r>
          </a:p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212121"/>
                </a:solidFill>
                <a:latin typeface="Calibri"/>
              </a:rPr>
              <a:t>✓ 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Локални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известия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(3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канала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) +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AlarmManager</a:t>
            </a:r>
            <a:endParaRPr sz="1500" b="0" dirty="0">
              <a:solidFill>
                <a:srgbClr val="212121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dirty="0">
                <a:solidFill>
                  <a:srgbClr val="212121"/>
                </a:solidFill>
                <a:latin typeface="Calibri"/>
              </a:rPr>
              <a:t>✓  EN / BG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локализация</a:t>
            </a:r>
            <a:endParaRPr sz="1500" b="0" dirty="0">
              <a:solidFill>
                <a:srgbClr val="212121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 dirty="0" smtClean="0">
                <a:solidFill>
                  <a:srgbClr val="212121"/>
                </a:solidFill>
                <a:latin typeface="Calibri"/>
              </a:rPr>
              <a:t>✓ 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Нетривиални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212121"/>
                </a:solidFill>
                <a:latin typeface="Calibri"/>
              </a:rPr>
              <a:t>решения</a:t>
            </a:r>
            <a:r>
              <a:rPr sz="1500" b="0" dirty="0">
                <a:solidFill>
                  <a:srgbClr val="212121"/>
                </a:solidFill>
                <a:latin typeface="Calibri"/>
              </a:rPr>
              <a:t>: Null-after-consume, Defensive Copy, Deferred Notifications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Въпроси?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BBDEFB"/>
                </a:solidFill>
                <a:latin typeface="Calibri"/>
              </a:rPr>
              <a:t>Office Desk Management &amp; Reservation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36263" y="3429000"/>
            <a:ext cx="2797561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bg-BG" sz="1500" b="0" i="0" dirty="0" smtClean="0">
                <a:solidFill>
                  <a:srgbClr val="90CAF9"/>
                </a:solidFill>
                <a:latin typeface="Calibri"/>
              </a:rPr>
              <a:t>Кристиан Кирчев</a:t>
            </a:r>
            <a:r>
              <a:rPr sz="1500" b="0" i="0" dirty="0" smtClean="0">
                <a:solidFill>
                  <a:srgbClr val="90CAF9"/>
                </a:solidFill>
                <a:latin typeface="Calibri"/>
              </a:rPr>
              <a:t>  </a:t>
            </a:r>
            <a:r>
              <a:rPr sz="1500" b="0" i="0" dirty="0">
                <a:solidFill>
                  <a:srgbClr val="90CAF9"/>
                </a:solidFill>
                <a:latin typeface="Calibri"/>
              </a:rPr>
              <a:t>·  </a:t>
            </a:r>
            <a:r>
              <a:rPr lang="bg-BG" sz="1500" b="0" i="0" dirty="0" smtClean="0">
                <a:solidFill>
                  <a:srgbClr val="90CAF9"/>
                </a:solidFill>
                <a:latin typeface="Calibri"/>
              </a:rPr>
              <a:t>ПМУ</a:t>
            </a:r>
            <a:r>
              <a:rPr sz="1500" b="0" i="0" dirty="0" smtClean="0">
                <a:solidFill>
                  <a:srgbClr val="90CAF9"/>
                </a:solidFill>
                <a:latin typeface="Calibri"/>
              </a:rPr>
              <a:t>  </a:t>
            </a:r>
            <a:r>
              <a:rPr sz="1500" b="0" i="0" dirty="0">
                <a:solidFill>
                  <a:srgbClr val="90CAF9"/>
                </a:solidFill>
                <a:latin typeface="Calibri"/>
              </a:rPr>
              <a:t>·  2026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44ba9367-eb51-4860-91fd-089945178738}" enabled="1" method="Privilege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1976</TotalTime>
  <Words>1243</Words>
  <Application>Microsoft Office PowerPoint</Application>
  <PresentationFormat>Custom</PresentationFormat>
  <Paragraphs>183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Kris</cp:lastModifiedBy>
  <cp:revision>19</cp:revision>
  <dcterms:created xsi:type="dcterms:W3CDTF">2013-01-27T09:14:16Z</dcterms:created>
  <dcterms:modified xsi:type="dcterms:W3CDTF">2026-05-05T00:25:36Z</dcterms:modified>
  <cp:category/>
</cp:coreProperties>
</file>